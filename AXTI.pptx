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封面方案 B：左右分栏，右侧数据条 + 图像占位。更有仪表盘感。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一句话现状：观察名单。基本面改善但技术面破位，股价已回落到此前设定的目标入场区。三个数字定调。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AXT 造化合物半导体衬底——四种材料。InP 是 AI 光互连关键基础材料。它是这一叙事最纯的上市标的，处在供应链最底层。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两个触发点：Q1 强劲超预期，以及宣布 InP 产能翻倍服务 800G/1.6T 光互连需求。这让它进入研究视野。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整个论点的中心问题，大字引用页。营收能否拉到 $1.43 亿以上并守住 25%+ 毛利，验证需求逻辑;还是当前估值暴露为投机超涨。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财务快照。接近盈亏平衡：营业亏损仅 -161.7万。营收同比 +39%。毛利率从 12.7% 修复到 29.6%。净现金 5550 万撑住资产负债表。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过去 12 个月凭单一叙事从 $1.24 涨到 $108、峰值 $143。较 52 周低点 +3,577%。这是一段抛物线，当前是它的回撤。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3 破位。$108 时 8 项 SEPA 标准全过;现低于 50MA 30%。从 $143 瀑布式下跌,未形成底部。尚无有效入场点——等量能萎缩或 7/30 确认。仍高于 200MA 68%。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近 3 个月，AXTI 在光互连/AI 光子同行中以绝对优势领跑 +290.4%,反映 InP 专属叙事溢价。对比 CIEN、LITE、POET、COHR。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护城河窄。有：InP 晶体生长 IP、OEM 认证关系、2 年以上产能建设周期。没有:软件护城河、客户锁定;中国衬底质量提升迅速。结论:窄,3-5 年可维持,随中国认证侵蚀。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反方观点与风险。执行:营收要拉到 1.43 亿。中国竞争侵蚀 OEM 认证。需求时点偏差。估值:70 亿建立在 8800 万营收上。Reddit 散户怀疑(多头 20%)是轻微逆势信号。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7/30 Q2 财报是关键二元事件。一致预期 EPS 0.072——首次盈利。财报确认营收拉升或量能衰竭,是重新评估的触发点。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估值锚：概率加权期望价值 84。当前 68 低于 19%。目标入场区 65-80,已到达。但瀑布未衰竭,尚无有效入场——先观察。仓位:高确信度投机,仓位大小相应控制。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结论:观察,等待确认。基本面完好且改善,估值有折价,但技术面破位。触发点:7/30 财报确认拉升,或出现量能衰竭信号。在此之前不动手。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363"/>
            <a:ext cx="1041747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6DE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投资分析 · EQUITY DEEP-DIVE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3261816"/>
            <a:ext cx="10417472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8B92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NASDAQ : AXTI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3734842"/>
            <a:ext cx="9754542" cy="2151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850" b="1" spc="-265" kern="0" dirty="0">
                <a:solidFill>
                  <a:srgbClr val="F2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AXT, Inc. </a:t>
            </a:r>
            <a:pPr algn="l" indent="0" marL="0">
              <a:lnSpc>
                <a:spcPct val="94000"/>
              </a:lnSpc>
              <a:buNone/>
            </a:pPr>
            <a:r>
              <a:rPr lang="en-US" sz="8850" b="1" spc="-265" kern="0" dirty="0">
                <a:solidFill>
                  <a:srgbClr val="36DED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化合物半导体衬底</a:t>
            </a:r>
            <a:endParaRPr lang="en-US" sz="8850" dirty="0"/>
          </a:p>
        </p:txBody>
      </p:sp>
      <p:sp>
        <p:nvSpPr>
          <p:cNvPr id="5" name="Text 3"/>
          <p:cNvSpPr/>
          <p:nvPr/>
        </p:nvSpPr>
        <p:spPr>
          <a:xfrm>
            <a:off x="1047750" y="6133579"/>
            <a:ext cx="8044815" cy="929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C7CC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抛物线之后的复盘：基本面改善，技术面破位，7/30 财报是关键二元事件。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047750" y="9063075"/>
            <a:ext cx="1041747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8B92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个人投资复盘 · 2026-06-26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280179" y="0"/>
            <a:ext cx="7007820" cy="102870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8" name="Shape 6"/>
          <p:cNvSpPr/>
          <p:nvPr/>
        </p:nvSpPr>
        <p:spPr>
          <a:xfrm>
            <a:off x="11280179" y="0"/>
            <a:ext cx="9525" cy="102870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288117" y="3815643"/>
            <a:ext cx="6999883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1897692" y="3064805"/>
            <a:ext cx="53341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2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股价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895339" y="2802868"/>
            <a:ext cx="1961393" cy="688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$68.03</a:t>
            </a:r>
            <a:endParaRPr lang="en-US" sz="3900" dirty="0"/>
          </a:p>
        </p:txBody>
      </p:sp>
      <p:sp>
        <p:nvSpPr>
          <p:cNvPr id="12" name="Shape 10"/>
          <p:cNvSpPr/>
          <p:nvPr/>
        </p:nvSpPr>
        <p:spPr>
          <a:xfrm>
            <a:off x="11288117" y="5042669"/>
            <a:ext cx="6999883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897692" y="4331518"/>
            <a:ext cx="117349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2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52 周区间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06712" y="4204518"/>
            <a:ext cx="238888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$1.85–$143</a:t>
            </a:r>
            <a:endParaRPr lang="en-US" sz="2850" dirty="0"/>
          </a:p>
        </p:txBody>
      </p:sp>
      <p:sp>
        <p:nvSpPr>
          <p:cNvPr id="15" name="Shape 13"/>
          <p:cNvSpPr/>
          <p:nvPr/>
        </p:nvSpPr>
        <p:spPr>
          <a:xfrm>
            <a:off x="11288117" y="6444320"/>
            <a:ext cx="6999883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897692" y="5693482"/>
            <a:ext cx="7620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2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较低点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98118" y="5431544"/>
            <a:ext cx="2288338" cy="688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59D3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+3,577%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11897692" y="7095133"/>
            <a:ext cx="165968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2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毛利率 Q1'26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192500" y="6833195"/>
            <a:ext cx="1634517" cy="688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36DE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29.6%</a:t>
            </a:r>
            <a:endParaRPr lang="en-US" sz="3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36DE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现状快照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76350"/>
            <a:ext cx="14668500" cy="7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250" b="1" spc="-105" kern="0" dirty="0">
                <a:solidFill>
                  <a:srgbClr val="F2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基本面在改善，技术面已破位</a:t>
            </a:r>
            <a:endParaRPr lang="en-US" sz="5250" dirty="0"/>
          </a:p>
        </p:txBody>
      </p:sp>
      <p:sp>
        <p:nvSpPr>
          <p:cNvPr id="4" name="Text 2"/>
          <p:cNvSpPr/>
          <p:nvPr/>
        </p:nvSpPr>
        <p:spPr>
          <a:xfrm>
            <a:off x="952500" y="2266900"/>
            <a:ext cx="14716125" cy="9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C7CC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股价已回落到此前设定的目标入场区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F2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$65–80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C7CC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，且低于概率加权期望价值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F2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$84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C7CC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约 19%——但瀑布式下跌尚未衰竭。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3706874"/>
            <a:ext cx="5283212" cy="5818125"/>
          </a:xfrm>
          <a:prstGeom prst="roundRect">
            <a:avLst>
              <a:gd name="adj" fmla="val 3245"/>
            </a:avLst>
          </a:prstGeom>
          <a:solidFill>
            <a:srgbClr val="14161C"/>
          </a:solidFill>
          <a:ln w="7937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9513" y="4171962"/>
            <a:ext cx="4872106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毛利率 Q1 2026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79513" y="5988100"/>
            <a:ext cx="4872106" cy="9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59D38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29.6%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379513" y="8377287"/>
            <a:ext cx="4562063" cy="720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7CC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自 FY2025 谷底 12.7% 修复，已超越论文 25% 目标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502362" y="3706874"/>
            <a:ext cx="5283212" cy="5818125"/>
          </a:xfrm>
          <a:prstGeom prst="roundRect">
            <a:avLst>
              <a:gd name="adj" fmla="val 3245"/>
            </a:avLst>
          </a:prstGeom>
          <a:solidFill>
            <a:srgbClr val="14161C"/>
          </a:solidFill>
          <a:ln w="7937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29375" y="4171962"/>
            <a:ext cx="4872106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股价 vs 50 日均线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929375" y="5988100"/>
            <a:ext cx="4872106" cy="9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F0565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−30%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6929375" y="8377287"/>
            <a:ext cx="4562063" cy="720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7CC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50MA $97.37；Stage 3 破位，趋势模板未通过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2052225" y="3706874"/>
            <a:ext cx="5283274" cy="5818125"/>
          </a:xfrm>
          <a:prstGeom prst="roundRect">
            <a:avLst>
              <a:gd name="adj" fmla="val 3245"/>
            </a:avLst>
          </a:prstGeom>
          <a:solidFill>
            <a:srgbClr val="14161C"/>
          </a:solidFill>
          <a:ln w="7937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79238" y="4171962"/>
            <a:ext cx="4872174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关键二元事件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479238" y="6083350"/>
            <a:ext cx="4872174" cy="7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36DED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07/30</a:t>
            </a:r>
            <a:endParaRPr lang="en-US" sz="5700" dirty="0"/>
          </a:p>
        </p:txBody>
      </p:sp>
      <p:sp>
        <p:nvSpPr>
          <p:cNvPr id="16" name="Text 14"/>
          <p:cNvSpPr/>
          <p:nvPr/>
        </p:nvSpPr>
        <p:spPr>
          <a:xfrm>
            <a:off x="12479238" y="8377287"/>
            <a:ext cx="4562126" cy="720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7CC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Q2 2026 财报（已确认）；预期首次盈利 EPS $0.072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36DE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业务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76350"/>
            <a:ext cx="15716250" cy="7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250" b="1" spc="-105" kern="0" dirty="0">
                <a:solidFill>
                  <a:srgbClr val="F2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InP 衬底最纯的上市标的</a:t>
            </a:r>
            <a:endParaRPr lang="en-US" sz="5250" dirty="0"/>
          </a:p>
        </p:txBody>
      </p:sp>
      <p:sp>
        <p:nvSpPr>
          <p:cNvPr id="4" name="Text 2"/>
          <p:cNvSpPr/>
          <p:nvPr/>
        </p:nvSpPr>
        <p:spPr>
          <a:xfrm>
            <a:off x="952500" y="2457400"/>
            <a:ext cx="15304770" cy="1087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850" dirty="0">
                <a:solidFill>
                  <a:srgbClr val="C7CC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AXT 制造化合物半导体</a:t>
            </a:r>
            <a:pPr algn="l" indent="0" marL="0">
              <a:lnSpc>
                <a:spcPct val="145000"/>
              </a:lnSpc>
              <a:buNone/>
            </a:pPr>
            <a:r>
              <a:rPr lang="en-US" sz="2850" b="1" dirty="0">
                <a:solidFill>
                  <a:srgbClr val="F2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衬底 </a:t>
            </a:r>
            <a:pPr algn="l" indent="0" marL="0">
              <a:lnSpc>
                <a:spcPct val="145000"/>
              </a:lnSpc>
              <a:buNone/>
            </a:pPr>
            <a:r>
              <a:rPr lang="en-US" sz="2850" dirty="0">
                <a:solidFill>
                  <a:srgbClr val="C7CC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——AI 数据中心光互连、5G 与太空太阳能等应用的关键基础材料。处在光子供应链的 </a:t>
            </a:r>
            <a:pPr algn="l" indent="0" marL="0">
              <a:lnSpc>
                <a:spcPct val="145000"/>
              </a:lnSpc>
              <a:buNone/>
            </a:pPr>
            <a:r>
              <a:rPr lang="en-US" sz="2850" b="1" dirty="0">
                <a:solidFill>
                  <a:srgbClr val="F2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最底层</a:t>
            </a:r>
            <a:pPr algn="l" indent="0" marL="0">
              <a:lnSpc>
                <a:spcPct val="145000"/>
              </a:lnSpc>
              <a:buNone/>
            </a:pPr>
            <a:r>
              <a:rPr lang="en-US" sz="2850" dirty="0">
                <a:solidFill>
                  <a:srgbClr val="C7CC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。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52500" y="4040373"/>
            <a:ext cx="2064122" cy="1381807"/>
          </a:xfrm>
          <a:prstGeom prst="roundRect">
            <a:avLst>
              <a:gd name="adj" fmla="val 9650"/>
            </a:avLst>
          </a:prstGeom>
          <a:solidFill>
            <a:srgbClr val="33D9D9">
              <a:alpha val="8000"/>
            </a:srgbClr>
          </a:solidFill>
          <a:ln w="7937">
            <a:solidFill>
              <a:srgbClr val="36DDDD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1437" y="4295924"/>
            <a:ext cx="1414872" cy="542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6DE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41437" y="4857068"/>
            <a:ext cx="141487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磷化铟 · 核心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26159" y="4040373"/>
            <a:ext cx="1692300" cy="1381807"/>
          </a:xfrm>
          <a:prstGeom prst="roundRect">
            <a:avLst>
              <a:gd name="adj" fmla="val 9650"/>
            </a:avLst>
          </a:prstGeom>
          <a:solidFill>
            <a:srgbClr val="14161C"/>
          </a:solidFill>
          <a:ln w="7937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5097" y="4295924"/>
            <a:ext cx="990625" cy="542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GaAs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15097" y="4857068"/>
            <a:ext cx="9906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砷化镓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27997" y="4040373"/>
            <a:ext cx="1235087" cy="1381807"/>
          </a:xfrm>
          <a:prstGeom prst="roundRect">
            <a:avLst>
              <a:gd name="adj" fmla="val 10797"/>
            </a:avLst>
          </a:prstGeom>
          <a:solidFill>
            <a:srgbClr val="14161C"/>
          </a:solidFill>
          <a:ln w="7937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16934" y="4295924"/>
            <a:ext cx="533412" cy="542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516934" y="4857068"/>
            <a:ext cx="53341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锗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72622" y="4040373"/>
            <a:ext cx="1692300" cy="1381807"/>
          </a:xfrm>
          <a:prstGeom prst="roundRect">
            <a:avLst>
              <a:gd name="adj" fmla="val 9650"/>
            </a:avLst>
          </a:prstGeom>
          <a:solidFill>
            <a:srgbClr val="14161C"/>
          </a:solidFill>
          <a:ln w="7937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61559" y="4295924"/>
            <a:ext cx="990625" cy="542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InAs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961559" y="4857068"/>
            <a:ext cx="9906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砷化铟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52500" y="8019293"/>
            <a:ext cx="16383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8408231"/>
            <a:ext cx="3055801" cy="756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2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$8,832.6万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952500" y="9183687"/>
            <a:ext cx="3055801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营收 FY2025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4340076" y="8408231"/>
            <a:ext cx="3390249" cy="756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2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6,540万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4340076" y="9183687"/>
            <a:ext cx="3390249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流通股（较 FY2022 +50%）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8031696" y="8408231"/>
            <a:ext cx="1037444" cy="716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2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1.81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8031696" y="9144000"/>
            <a:ext cx="1037444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Beta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602514" y="8408231"/>
            <a:ext cx="2914941" cy="756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59D38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~$5,550万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9602514" y="9183687"/>
            <a:ext cx="2914941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净现金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36DE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为何进入视野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76350"/>
            <a:ext cx="15716250" cy="7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250" b="1" spc="-105" kern="0" dirty="0">
                <a:solidFill>
                  <a:srgbClr val="F2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两个触发点让 AXTI 进入研究视野</a:t>
            </a:r>
            <a:endParaRPr lang="en-US" sz="5250" dirty="0"/>
          </a:p>
        </p:txBody>
      </p:sp>
      <p:sp>
        <p:nvSpPr>
          <p:cNvPr id="4" name="Shape 2"/>
          <p:cNvSpPr/>
          <p:nvPr/>
        </p:nvSpPr>
        <p:spPr>
          <a:xfrm>
            <a:off x="952500" y="2571688"/>
            <a:ext cx="8039075" cy="6953312"/>
          </a:xfrm>
          <a:prstGeom prst="roundRect">
            <a:avLst>
              <a:gd name="adj" fmla="val 2466"/>
            </a:avLst>
          </a:prstGeom>
          <a:solidFill>
            <a:srgbClr val="14161C"/>
          </a:solidFill>
          <a:ln w="7937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55725" y="3112988"/>
            <a:ext cx="7735887" cy="462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36DE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455725" y="3804295"/>
            <a:ext cx="7735887" cy="4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150" b="1" dirty="0">
                <a:solidFill>
                  <a:srgbClr val="F2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 2026 强劲业绩超预期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455725" y="4492873"/>
            <a:ext cx="7243604" cy="891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C7CC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EPS −$0.01 vs 预估 −$0.046（</a:t>
            </a:r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59D3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+78.3%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C7CC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）；营收 $2,692.4万，同比 </a:t>
            </a:r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59D3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+39%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C7CC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296363" y="2571688"/>
            <a:ext cx="8039137" cy="6953312"/>
          </a:xfrm>
          <a:prstGeom prst="roundRect">
            <a:avLst>
              <a:gd name="adj" fmla="val 2466"/>
            </a:avLst>
          </a:prstGeom>
          <a:solidFill>
            <a:srgbClr val="14161C"/>
          </a:solidFill>
          <a:ln w="7937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99588" y="3112988"/>
            <a:ext cx="7735956" cy="462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36DE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799588" y="3804295"/>
            <a:ext cx="7735956" cy="4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150" b="1" dirty="0">
                <a:solidFill>
                  <a:srgbClr val="F2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宣布 InP 产能翻倍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799588" y="4492873"/>
            <a:ext cx="7243668" cy="891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C7CC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 年 5 月，为服务 AI 数据中心 </a:t>
            </a:r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2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800G / 1.6T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C7CC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光互连需求，公司宣布将 InP 制造产能翻倍。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3281226"/>
            <a:ext cx="173926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36DE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核心投资问题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4009864"/>
            <a:ext cx="173926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0" dirty="0">
                <a:solidFill>
                  <a:srgbClr val="36DED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1238250" y="4390864"/>
            <a:ext cx="15893415" cy="2653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3900" spc="-58" kern="0" dirty="0">
                <a:solidFill>
                  <a:srgbClr val="F2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AXT 能否在 FY2026 将 InP 营收拉升至 </a:t>
            </a:r>
            <a:pPr algn="l" indent="0" marL="0">
              <a:lnSpc>
                <a:spcPct val="132000"/>
              </a:lnSpc>
              <a:buNone/>
            </a:pPr>
            <a:r>
              <a:rPr lang="en-US" sz="3900" spc="-58" kern="0" dirty="0">
                <a:solidFill>
                  <a:srgbClr val="36DED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$1.43 亿 </a:t>
            </a:r>
            <a:pPr algn="l" indent="0" marL="0">
              <a:lnSpc>
                <a:spcPct val="132000"/>
              </a:lnSpc>
              <a:buNone/>
            </a:pPr>
            <a:r>
              <a:rPr lang="en-US" sz="3900" spc="-58" kern="0" dirty="0">
                <a:solidFill>
                  <a:srgbClr val="F2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以上、同时把毛利率恢复到 </a:t>
            </a:r>
            <a:pPr algn="l" indent="0" marL="0">
              <a:lnSpc>
                <a:spcPct val="132000"/>
              </a:lnSpc>
              <a:buNone/>
            </a:pPr>
            <a:r>
              <a:rPr lang="en-US" sz="3900" spc="-58" kern="0" dirty="0">
                <a:solidFill>
                  <a:srgbClr val="36DED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25%+ </a:t>
            </a:r>
            <a:pPr algn="l" indent="0" marL="0">
              <a:lnSpc>
                <a:spcPct val="132000"/>
              </a:lnSpc>
              <a:buNone/>
            </a:pPr>
            <a:r>
              <a:rPr lang="en-US" sz="3900" spc="-58" kern="0" dirty="0">
                <a:solidFill>
                  <a:srgbClr val="F2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，从而验证 AI 光子的结构性需求——还是说，执行、中国竞争或需求时点偏差，将使当前 </a:t>
            </a:r>
            <a:pPr algn="l" indent="0" marL="0">
              <a:lnSpc>
                <a:spcPct val="132000"/>
              </a:lnSpc>
              <a:buNone/>
            </a:pPr>
            <a:r>
              <a:rPr lang="en-US" sz="3900" spc="-58" kern="0" dirty="0">
                <a:solidFill>
                  <a:srgbClr val="F0565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$70 亿 </a:t>
            </a:r>
            <a:pPr algn="l" indent="0" marL="0">
              <a:lnSpc>
                <a:spcPct val="132000"/>
              </a:lnSpc>
              <a:buNone/>
            </a:pPr>
            <a:r>
              <a:rPr lang="en-US" sz="3900" spc="-58" kern="0" dirty="0">
                <a:solidFill>
                  <a:srgbClr val="F2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估值暴露为 $8,800 万营收上的投机超涨？</a:t>
            </a:r>
            <a:endParaRPr lang="en-US" sz="3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36DE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基本面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76350"/>
            <a:ext cx="15716250" cy="7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250" b="1" spc="-105" kern="0" dirty="0">
                <a:solidFill>
                  <a:srgbClr val="F2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营收拉升，毛利修复，逼近盈亏平衡</a:t>
            </a:r>
            <a:endParaRPr lang="en-US" sz="5250" dirty="0"/>
          </a:p>
        </p:txBody>
      </p:sp>
      <p:sp>
        <p:nvSpPr>
          <p:cNvPr id="4" name="Shape 2"/>
          <p:cNvSpPr/>
          <p:nvPr/>
        </p:nvSpPr>
        <p:spPr>
          <a:xfrm>
            <a:off x="952500" y="2514513"/>
            <a:ext cx="5308575" cy="3390925"/>
          </a:xfrm>
          <a:prstGeom prst="roundRect">
            <a:avLst>
              <a:gd name="adj" fmla="val 4494"/>
            </a:avLst>
          </a:prstGeom>
          <a:solidFill>
            <a:srgbClr val="14161C"/>
          </a:solidFill>
          <a:ln w="7937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41437" y="2884351"/>
            <a:ext cx="4983770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营收 Q1 2026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41437" y="3823022"/>
            <a:ext cx="4983770" cy="812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$2,692.4万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1341437" y="5194288"/>
            <a:ext cx="4983770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9D3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同比 +39%（vs $1,938.0万）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489650" y="2514513"/>
            <a:ext cx="5308637" cy="3390925"/>
          </a:xfrm>
          <a:prstGeom prst="roundRect">
            <a:avLst>
              <a:gd name="adj" fmla="val 4494"/>
            </a:avLst>
          </a:prstGeom>
          <a:solidFill>
            <a:srgbClr val="14161C"/>
          </a:solidFill>
          <a:ln w="7937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78588" y="2884351"/>
            <a:ext cx="4983838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毛利率 Q1 2026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878588" y="3832944"/>
            <a:ext cx="4983838" cy="792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59D3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29.6%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6878588" y="5194288"/>
            <a:ext cx="4983838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7CC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谷底 12.7% → 已超 25% 目标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026862" y="2514513"/>
            <a:ext cx="5308575" cy="3390925"/>
          </a:xfrm>
          <a:prstGeom prst="roundRect">
            <a:avLst>
              <a:gd name="adj" fmla="val 4494"/>
            </a:avLst>
          </a:prstGeom>
          <a:solidFill>
            <a:srgbClr val="14161C"/>
          </a:solidFill>
          <a:ln w="7937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15800" y="2884351"/>
            <a:ext cx="4983770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营业亏损 Q1 2026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415800" y="3823022"/>
            <a:ext cx="4983770" cy="812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−$161.7万</a:t>
            </a:r>
            <a:endParaRPr lang="en-US" sz="4500" dirty="0"/>
          </a:p>
        </p:txBody>
      </p:sp>
      <p:sp>
        <p:nvSpPr>
          <p:cNvPr id="15" name="Text 13"/>
          <p:cNvSpPr/>
          <p:nvPr/>
        </p:nvSpPr>
        <p:spPr>
          <a:xfrm>
            <a:off x="12415800" y="5194288"/>
            <a:ext cx="4983770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7CC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接近盈亏平衡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2500" y="6134013"/>
            <a:ext cx="5308575" cy="3390987"/>
          </a:xfrm>
          <a:prstGeom prst="roundRect">
            <a:avLst>
              <a:gd name="adj" fmla="val 4494"/>
            </a:avLst>
          </a:prstGeom>
          <a:solidFill>
            <a:srgbClr val="14161C"/>
          </a:solidFill>
          <a:ln w="7937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41437" y="6503851"/>
            <a:ext cx="4983770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自由现金流 FY2025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41437" y="7442584"/>
            <a:ext cx="4983770" cy="812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−$1,877.8万</a:t>
            </a:r>
            <a:endParaRPr lang="en-US" sz="4500" dirty="0"/>
          </a:p>
        </p:txBody>
      </p:sp>
      <p:sp>
        <p:nvSpPr>
          <p:cNvPr id="19" name="Text 17"/>
          <p:cNvSpPr/>
          <p:nvPr/>
        </p:nvSpPr>
        <p:spPr>
          <a:xfrm>
            <a:off x="1341437" y="8813849"/>
            <a:ext cx="4983770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7CC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营收回升若持续预计转正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6489650" y="6134013"/>
            <a:ext cx="5308637" cy="3390987"/>
          </a:xfrm>
          <a:prstGeom prst="roundRect">
            <a:avLst>
              <a:gd name="adj" fmla="val 4494"/>
            </a:avLst>
          </a:prstGeom>
          <a:solidFill>
            <a:srgbClr val="14161C"/>
          </a:solidFill>
          <a:ln w="7937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78588" y="6503851"/>
            <a:ext cx="4983838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净现金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878588" y="7442584"/>
            <a:ext cx="4983838" cy="812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59D3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~$5,550万</a:t>
            </a:r>
            <a:endParaRPr lang="en-US" sz="4500" dirty="0"/>
          </a:p>
        </p:txBody>
      </p:sp>
      <p:sp>
        <p:nvSpPr>
          <p:cNvPr id="23" name="Text 21"/>
          <p:cNvSpPr/>
          <p:nvPr/>
        </p:nvSpPr>
        <p:spPr>
          <a:xfrm>
            <a:off x="6878588" y="8813849"/>
            <a:ext cx="4983838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7CC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现金 $1,202.7万 · 债务 $6,481.6万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2026862" y="6134013"/>
            <a:ext cx="5308575" cy="3390987"/>
          </a:xfrm>
          <a:prstGeom prst="roundRect">
            <a:avLst>
              <a:gd name="adj" fmla="val 4494"/>
            </a:avLst>
          </a:prstGeom>
          <a:solidFill>
            <a:srgbClr val="14161C"/>
          </a:solidFill>
          <a:ln w="7937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415800" y="6503851"/>
            <a:ext cx="4983770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市值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2415800" y="7442584"/>
            <a:ext cx="4983770" cy="812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~$44.5亿</a:t>
            </a:r>
            <a:endParaRPr lang="en-US" sz="4500" dirty="0"/>
          </a:p>
        </p:txBody>
      </p:sp>
      <p:sp>
        <p:nvSpPr>
          <p:cNvPr id="27" name="Text 25"/>
          <p:cNvSpPr/>
          <p:nvPr/>
        </p:nvSpPr>
        <p:spPr>
          <a:xfrm>
            <a:off x="12415800" y="8813849"/>
            <a:ext cx="4983770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0565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较 $108 时 $70.9亿 −37%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1860103"/>
            <a:ext cx="180213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36DE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抛物线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2417279"/>
            <a:ext cx="7891686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0" b="1" spc="-450" kern="0" dirty="0">
                <a:solidFill>
                  <a:srgbClr val="59D38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+3,577%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52500" y="4284141"/>
            <a:ext cx="7891686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7CC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较 52 周低点 $1.85 的涨幅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5219960"/>
            <a:ext cx="15697200" cy="1087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850" dirty="0">
                <a:solidFill>
                  <a:srgbClr val="C7CC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过去 12 个月，凭借单一结构性叙事——</a:t>
            </a:r>
            <a:pPr algn="l" indent="0" marL="0">
              <a:lnSpc>
                <a:spcPct val="145000"/>
              </a:lnSpc>
              <a:buNone/>
            </a:pPr>
            <a:r>
              <a:rPr lang="en-US" sz="2850" b="1" dirty="0">
                <a:solidFill>
                  <a:srgbClr val="F2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InP 供应 AI 光子需求 </a:t>
            </a:r>
            <a:pPr algn="l" indent="0" marL="0">
              <a:lnSpc>
                <a:spcPct val="145000"/>
              </a:lnSpc>
              <a:buNone/>
            </a:pPr>
            <a:r>
              <a:rPr lang="en-US" sz="2850" dirty="0">
                <a:solidFill>
                  <a:srgbClr val="C7CC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——股价从 $1.24 涨至 $108、峰值 $143.16。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52500" y="6802934"/>
            <a:ext cx="16383000" cy="1623963"/>
          </a:xfrm>
          <a:prstGeom prst="roundRect">
            <a:avLst>
              <a:gd name="adj" fmla="val 9384"/>
            </a:avLst>
          </a:prstGeom>
          <a:ln w="7937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46265" y="6810871"/>
            <a:ext cx="9525" cy="160808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341437" y="7134696"/>
            <a:ext cx="365621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2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起点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41437" y="7444258"/>
            <a:ext cx="3656211" cy="688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$1.24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9140031" y="6810871"/>
            <a:ext cx="9525" cy="160808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35203" y="7134696"/>
            <a:ext cx="365621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2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峰值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35203" y="7444258"/>
            <a:ext cx="3656211" cy="688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59D3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$143.16</a:t>
            </a:r>
            <a:endParaRPr lang="en-US" sz="3900" dirty="0"/>
          </a:p>
        </p:txBody>
      </p:sp>
      <p:sp>
        <p:nvSpPr>
          <p:cNvPr id="13" name="Shape 11"/>
          <p:cNvSpPr/>
          <p:nvPr/>
        </p:nvSpPr>
        <p:spPr>
          <a:xfrm>
            <a:off x="13233796" y="6810871"/>
            <a:ext cx="9525" cy="160808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528968" y="7134696"/>
            <a:ext cx="365621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2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5/7 分析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28968" y="7444258"/>
            <a:ext cx="3656211" cy="688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$108.42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13622734" y="7134696"/>
            <a:ext cx="365621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2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当前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622734" y="7444258"/>
            <a:ext cx="3656211" cy="688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0565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$68.03</a:t>
            </a:r>
            <a:endParaRPr lang="en-US" sz="3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0565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技术面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76350"/>
            <a:ext cx="15716250" cy="7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250" b="1" spc="-105" kern="0" dirty="0">
                <a:solidFill>
                  <a:srgbClr val="F2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Stage 3 破位，尚无有效入场点</a:t>
            </a:r>
            <a:endParaRPr lang="en-US" sz="5250" dirty="0"/>
          </a:p>
        </p:txBody>
      </p:sp>
      <p:sp>
        <p:nvSpPr>
          <p:cNvPr id="4" name="Text 2"/>
          <p:cNvSpPr/>
          <p:nvPr/>
        </p:nvSpPr>
        <p:spPr>
          <a:xfrm>
            <a:off x="952500" y="2266900"/>
            <a:ext cx="15304770" cy="9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C7CC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从 $143 高点持续瀑布式下跌、未形成底部；趋势模板 8 项标准未通过。等待量能萎缩或 7/30 财报后确认。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3668799"/>
            <a:ext cx="3924288" cy="5856201"/>
          </a:xfrm>
          <a:prstGeom prst="roundRect">
            <a:avLst>
              <a:gd name="adj" fmla="val 3884"/>
            </a:avLst>
          </a:prstGeom>
          <a:solidFill>
            <a:srgbClr val="14161C"/>
          </a:solidFill>
          <a:ln w="7937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03300" y="4057737"/>
            <a:ext cx="3544956" cy="363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股价 vs 50MA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303300" y="6202040"/>
            <a:ext cx="3544956" cy="843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0565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−30.2%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303300" y="8826500"/>
            <a:ext cx="354495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50MA $97.37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05363" y="3668799"/>
            <a:ext cx="3924349" cy="5856201"/>
          </a:xfrm>
          <a:prstGeom prst="roundRect">
            <a:avLst>
              <a:gd name="adj" fmla="val 3883"/>
            </a:avLst>
          </a:prstGeom>
          <a:solidFill>
            <a:srgbClr val="14161C"/>
          </a:solidFill>
          <a:ln w="7937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56163" y="4057737"/>
            <a:ext cx="3545024" cy="363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股价 vs 200MA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5456163" y="6202040"/>
            <a:ext cx="3545024" cy="843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59D3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+68.4%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5456163" y="8826500"/>
            <a:ext cx="354502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200MA $40.39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58287" y="3668799"/>
            <a:ext cx="3924288" cy="5856201"/>
          </a:xfrm>
          <a:prstGeom prst="roundRect">
            <a:avLst>
              <a:gd name="adj" fmla="val 3884"/>
            </a:avLst>
          </a:prstGeom>
          <a:solidFill>
            <a:srgbClr val="14161C"/>
          </a:solidFill>
          <a:ln w="7937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9088" y="4057737"/>
            <a:ext cx="3544956" cy="363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距 52 周高点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9609088" y="6202040"/>
            <a:ext cx="3544956" cy="843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0565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−52.5%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9609088" y="8826500"/>
            <a:ext cx="354495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高点 $143.16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411150" y="3668799"/>
            <a:ext cx="3924349" cy="5856201"/>
          </a:xfrm>
          <a:prstGeom prst="roundRect">
            <a:avLst>
              <a:gd name="adj" fmla="val 3883"/>
            </a:avLst>
          </a:prstGeom>
          <a:solidFill>
            <a:srgbClr val="14161C"/>
          </a:solidFill>
          <a:ln w="7937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61951" y="4057737"/>
            <a:ext cx="3545024" cy="363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趋势模板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3761951" y="6271493"/>
            <a:ext cx="354502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0565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未通过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13761951" y="8826500"/>
            <a:ext cx="354502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 项标准 · 低于 50MA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36DE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· 相对表现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76350"/>
            <a:ext cx="15716250" cy="7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250" b="1" spc="-105" kern="0" dirty="0">
                <a:solidFill>
                  <a:srgbClr val="F2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领跑光互连同行，反映叙事溢价</a:t>
            </a:r>
            <a:endParaRPr lang="en-US" sz="5250" dirty="0"/>
          </a:p>
        </p:txBody>
      </p:sp>
      <p:sp>
        <p:nvSpPr>
          <p:cNvPr id="4" name="Text 2"/>
          <p:cNvSpPr/>
          <p:nvPr/>
        </p:nvSpPr>
        <p:spPr>
          <a:xfrm>
            <a:off x="952500" y="2190688"/>
            <a:ext cx="18021300" cy="4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近 3 个月涨跌幅（2026-05-07）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52500" y="4291397"/>
            <a:ext cx="2305050" cy="43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AXTI </a:t>
            </a:r>
            <a:pPr algn="l" indent="0" marL="0">
              <a:buNone/>
            </a:pPr>
            <a:r>
              <a:rPr lang="en-US" sz="225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AXT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3314650" y="4221200"/>
            <a:ext cx="11944449" cy="533363"/>
          </a:xfrm>
          <a:prstGeom prst="roundRect">
            <a:avLst>
              <a:gd name="adj" fmla="val 14287"/>
            </a:avLst>
          </a:prstGeom>
          <a:solidFill>
            <a:srgbClr val="14161C"/>
          </a:solidFill>
          <a:ln/>
        </p:spPr>
      </p:sp>
      <p:sp>
        <p:nvSpPr>
          <p:cNvPr id="7" name="Shape 5"/>
          <p:cNvSpPr/>
          <p:nvPr/>
        </p:nvSpPr>
        <p:spPr>
          <a:xfrm>
            <a:off x="3314650" y="4221200"/>
            <a:ext cx="11944449" cy="533363"/>
          </a:xfrm>
          <a:prstGeom prst="rect">
            <a:avLst/>
          </a:prstGeom>
          <a:solidFill>
            <a:srgbClr val="36DEDE"/>
          </a:solidFill>
          <a:ln/>
        </p:spPr>
      </p:sp>
      <p:sp>
        <p:nvSpPr>
          <p:cNvPr id="8" name="Text 6"/>
          <p:cNvSpPr/>
          <p:nvPr/>
        </p:nvSpPr>
        <p:spPr>
          <a:xfrm>
            <a:off x="15344775" y="4235834"/>
            <a:ext cx="1990725" cy="542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36DE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+290.4%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52500" y="5072372"/>
            <a:ext cx="2305050" cy="43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CIEN </a:t>
            </a:r>
            <a:pPr algn="l" indent="0" marL="0">
              <a:buNone/>
            </a:pPr>
            <a:r>
              <a:rPr lang="en-US" sz="225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Ciena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3314650" y="5002175"/>
            <a:ext cx="11944449" cy="533363"/>
          </a:xfrm>
          <a:prstGeom prst="roundRect">
            <a:avLst>
              <a:gd name="adj" fmla="val 14287"/>
            </a:avLst>
          </a:prstGeom>
          <a:solidFill>
            <a:srgbClr val="14161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4650" y="5002175"/>
            <a:ext cx="3535536" cy="533363"/>
          </a:xfrm>
          <a:prstGeom prst="rect">
            <a:avLst/>
          </a:prstGeom>
          <a:solidFill>
            <a:srgbClr val="5B6675"/>
          </a:solidFill>
          <a:ln/>
        </p:spPr>
      </p:sp>
      <p:sp>
        <p:nvSpPr>
          <p:cNvPr id="12" name="Text 10"/>
          <p:cNvSpPr/>
          <p:nvPr/>
        </p:nvSpPr>
        <p:spPr>
          <a:xfrm>
            <a:off x="15344775" y="5016810"/>
            <a:ext cx="1990725" cy="542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+86.0%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52500" y="5783150"/>
            <a:ext cx="2171700" cy="808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LITE </a:t>
            </a:r>
            <a:pPr algn="l" indent="0" marL="0">
              <a:buNone/>
            </a:pPr>
            <a:r>
              <a:rPr lang="en-US" sz="225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Lumentum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3314650" y="5901407"/>
            <a:ext cx="11944449" cy="533363"/>
          </a:xfrm>
          <a:prstGeom prst="roundRect">
            <a:avLst>
              <a:gd name="adj" fmla="val 14287"/>
            </a:avLst>
          </a:prstGeom>
          <a:solidFill>
            <a:srgbClr val="14161C"/>
          </a:solidFill>
          <a:ln/>
        </p:spPr>
      </p:sp>
      <p:sp>
        <p:nvSpPr>
          <p:cNvPr id="15" name="Shape 13"/>
          <p:cNvSpPr/>
          <p:nvPr/>
        </p:nvSpPr>
        <p:spPr>
          <a:xfrm>
            <a:off x="3314650" y="5901407"/>
            <a:ext cx="2245506" cy="533363"/>
          </a:xfrm>
          <a:prstGeom prst="rect">
            <a:avLst/>
          </a:prstGeom>
          <a:solidFill>
            <a:srgbClr val="5B6675"/>
          </a:solidFill>
          <a:ln/>
        </p:spPr>
      </p:sp>
      <p:sp>
        <p:nvSpPr>
          <p:cNvPr id="16" name="Text 14"/>
          <p:cNvSpPr/>
          <p:nvPr/>
        </p:nvSpPr>
        <p:spPr>
          <a:xfrm>
            <a:off x="15344775" y="5916104"/>
            <a:ext cx="1990725" cy="542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+54.7%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52500" y="6870898"/>
            <a:ext cx="2305050" cy="43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POET </a:t>
            </a:r>
            <a:pPr algn="l" indent="0" marL="0">
              <a:buNone/>
            </a:pPr>
            <a:r>
              <a:rPr lang="en-US" sz="225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POET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3314650" y="6800701"/>
            <a:ext cx="11944449" cy="533363"/>
          </a:xfrm>
          <a:prstGeom prst="roundRect">
            <a:avLst>
              <a:gd name="adj" fmla="val 14287"/>
            </a:avLst>
          </a:prstGeom>
          <a:solidFill>
            <a:srgbClr val="14161C"/>
          </a:solidFill>
          <a:ln/>
        </p:spPr>
      </p:sp>
      <p:sp>
        <p:nvSpPr>
          <p:cNvPr id="19" name="Shape 17"/>
          <p:cNvSpPr/>
          <p:nvPr/>
        </p:nvSpPr>
        <p:spPr>
          <a:xfrm>
            <a:off x="3314650" y="6800701"/>
            <a:ext cx="2233600" cy="533363"/>
          </a:xfrm>
          <a:prstGeom prst="rect">
            <a:avLst/>
          </a:prstGeom>
          <a:solidFill>
            <a:srgbClr val="5B6675"/>
          </a:solidFill>
          <a:ln/>
        </p:spPr>
      </p:sp>
      <p:sp>
        <p:nvSpPr>
          <p:cNvPr id="20" name="Text 18"/>
          <p:cNvSpPr/>
          <p:nvPr/>
        </p:nvSpPr>
        <p:spPr>
          <a:xfrm>
            <a:off x="15344775" y="6815336"/>
            <a:ext cx="1990725" cy="542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+54.3%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52500" y="7581677"/>
            <a:ext cx="2171700" cy="808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COHR </a:t>
            </a:r>
            <a:pPr algn="l" indent="0" marL="0">
              <a:buNone/>
            </a:pPr>
            <a:r>
              <a:rPr lang="en-US" sz="225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Coherent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3314650" y="7699933"/>
            <a:ext cx="11944449" cy="533363"/>
          </a:xfrm>
          <a:prstGeom prst="roundRect">
            <a:avLst>
              <a:gd name="adj" fmla="val 14287"/>
            </a:avLst>
          </a:prstGeom>
          <a:solidFill>
            <a:srgbClr val="14161C"/>
          </a:solidFill>
          <a:ln/>
        </p:spPr>
      </p:sp>
      <p:sp>
        <p:nvSpPr>
          <p:cNvPr id="23" name="Shape 21"/>
          <p:cNvSpPr/>
          <p:nvPr/>
        </p:nvSpPr>
        <p:spPr>
          <a:xfrm>
            <a:off x="3314650" y="7699933"/>
            <a:ext cx="1301936" cy="533363"/>
          </a:xfrm>
          <a:prstGeom prst="rect">
            <a:avLst/>
          </a:prstGeom>
          <a:solidFill>
            <a:srgbClr val="5B6675"/>
          </a:solidFill>
          <a:ln/>
        </p:spPr>
      </p:sp>
      <p:sp>
        <p:nvSpPr>
          <p:cNvPr id="24" name="Text 22"/>
          <p:cNvSpPr/>
          <p:nvPr/>
        </p:nvSpPr>
        <p:spPr>
          <a:xfrm>
            <a:off x="15344775" y="7714630"/>
            <a:ext cx="1990725" cy="542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+31.6%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36DE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· 护城河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62112"/>
            <a:ext cx="3593796" cy="7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250" b="1" spc="-105" kern="0" dirty="0">
                <a:solidFill>
                  <a:srgbClr val="F2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护城河：窄</a:t>
            </a:r>
            <a:endParaRPr lang="en-US" sz="5250" dirty="0"/>
          </a:p>
        </p:txBody>
      </p:sp>
      <p:sp>
        <p:nvSpPr>
          <p:cNvPr id="4" name="Text 2"/>
          <p:cNvSpPr/>
          <p:nvPr/>
        </p:nvSpPr>
        <p:spPr>
          <a:xfrm>
            <a:off x="9290685" y="1376350"/>
            <a:ext cx="8044815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C7CC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在已建立认证关系前提下可维持 3–5 年；随中国竞争者在 OEM 端完成认证而逐步侵蚀。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2600275"/>
            <a:ext cx="8039075" cy="6924724"/>
          </a:xfrm>
          <a:prstGeom prst="roundRect">
            <a:avLst>
              <a:gd name="adj" fmla="val 2476"/>
            </a:avLst>
          </a:prstGeom>
          <a:solidFill>
            <a:srgbClr val="55D58E">
              <a:alpha val="7000"/>
            </a:srgbClr>
          </a:solidFill>
          <a:ln w="7937">
            <a:solidFill>
              <a:srgbClr val="59D48C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98550" y="3065363"/>
            <a:ext cx="7861672" cy="498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9D38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拥有什么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398550" y="3830526"/>
            <a:ext cx="7861672" cy="423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DCE0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InP 晶体生长知识产权：数十年 Bridgman / VGF 工艺积累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98550" y="4463851"/>
            <a:ext cx="7861672" cy="423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DCE0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与主要光收发器制造商建立的 OEM 认证关系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98550" y="5097177"/>
            <a:ext cx="7861672" cy="423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DCE0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难以复制的基础设施：InP 产能翻倍需 2 年以上建设周期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296363" y="2600275"/>
            <a:ext cx="8039137" cy="6924724"/>
          </a:xfrm>
          <a:prstGeom prst="roundRect">
            <a:avLst>
              <a:gd name="adj" fmla="val 2476"/>
            </a:avLst>
          </a:prstGeom>
          <a:solidFill>
            <a:srgbClr val="EE5555">
              <a:alpha val="6000"/>
            </a:srgbClr>
          </a:solidFill>
          <a:ln w="7937">
            <a:solidFill>
              <a:srgbClr val="EE5653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42413" y="3065363"/>
            <a:ext cx="7861740" cy="498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565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不具备什么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742413" y="3830526"/>
            <a:ext cx="7861740" cy="423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DCE0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无软件护城河，超出制造工艺的 IP 保护有限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742413" y="4463851"/>
            <a:ext cx="7861740" cy="423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DCE0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无客户锁定，仅有切换成本惰性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742413" y="5097177"/>
            <a:ext cx="7361448" cy="809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DCE0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中国衬底生产商质量提升迅速（先进材料、AXT-东立合资）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0565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· 风险与反方观点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76350"/>
            <a:ext cx="15716250" cy="7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250" b="1" spc="-105" kern="0" dirty="0">
                <a:solidFill>
                  <a:srgbClr val="F2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哪些因素会让论点失效</a:t>
            </a:r>
            <a:endParaRPr lang="en-US" sz="5250" dirty="0"/>
          </a:p>
        </p:txBody>
      </p:sp>
      <p:sp>
        <p:nvSpPr>
          <p:cNvPr id="4" name="Shape 2"/>
          <p:cNvSpPr/>
          <p:nvPr/>
        </p:nvSpPr>
        <p:spPr>
          <a:xfrm>
            <a:off x="952500" y="2571688"/>
            <a:ext cx="7924787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865375"/>
            <a:ext cx="396242" cy="391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0565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520155" y="2865375"/>
            <a:ext cx="8092846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2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执行风险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520155" y="3401157"/>
            <a:ext cx="7577846" cy="7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B7BDC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FY2026 需将营收拉升至 $1.43 亿共识以上，任何拉升不及都会证伪需求逻辑。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410650" y="2571688"/>
            <a:ext cx="7924849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410650" y="2865375"/>
            <a:ext cx="396242" cy="391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0565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978305" y="2865375"/>
            <a:ext cx="8092913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2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中国竞争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978305" y="3401157"/>
            <a:ext cx="7577910" cy="7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B7BDC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中国衬底生产商质量快速提升，在 OEM 端完成认证后侵蚀护城河。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52500" y="6181638"/>
            <a:ext cx="7924787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6475326"/>
            <a:ext cx="396242" cy="391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0565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520155" y="6475326"/>
            <a:ext cx="7353963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2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需求时点偏差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520155" y="7011107"/>
            <a:ext cx="7353963" cy="3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B7BDC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光子需求节奏若晚于预期，营收拉升与产能投入错配。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410650" y="6181638"/>
            <a:ext cx="7924849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410650" y="6475326"/>
            <a:ext cx="396242" cy="391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0565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978305" y="6475326"/>
            <a:ext cx="8092913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2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估值与散户情绪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978305" y="7011107"/>
            <a:ext cx="7577910" cy="7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B7BDC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估值建立在 $8,800 万营收上；Reddit 多头仅 20%，散户怀疑是轻微逆势信号。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6222B">
                  <a:alpha val="100000"/>
                </a:srgbClr>
              </a:gs>
              <a:gs pos="55000">
                <a:srgbClr val="0E0F13">
                  <a:alpha val="100000"/>
                </a:srgbClr>
              </a:gs>
            </a:gsLst>
            <a:path path="circle">
              <a:fillToRect l="100000" t="0" r="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3161977"/>
            <a:ext cx="17811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36DE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· 催化剂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4437992"/>
            <a:ext cx="5046867" cy="1512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3500" b="1" spc="-405" kern="0" dirty="0">
                <a:solidFill>
                  <a:srgbClr val="F2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07/30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1047750" y="6045771"/>
            <a:ext cx="5046867" cy="47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8B92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 · 已确认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6397811" y="3795365"/>
            <a:ext cx="9525" cy="332959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072499" y="3795365"/>
            <a:ext cx="10472784" cy="11276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900" b="1" dirty="0">
                <a:solidFill>
                  <a:srgbClr val="F2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 2026 财报 关键二元事件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7072499" y="5132524"/>
            <a:ext cx="8044815" cy="9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C7CC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一致预期 EPS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36DED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$0.072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C7CC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——公司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F2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首次盈利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C7CC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。财报是确认营收拉升、或触发重新评估的分水岭。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7072499" y="6362960"/>
            <a:ext cx="3094385" cy="762000"/>
          </a:xfrm>
          <a:prstGeom prst="roundRect">
            <a:avLst>
              <a:gd name="adj" fmla="val 15000"/>
            </a:avLst>
          </a:prstGeom>
          <a:ln w="7937">
            <a:solidFill>
              <a:srgbClr val="5AD28C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6186" y="6561398"/>
            <a:ext cx="2599841" cy="403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9D3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确认拉升 → 有效入场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357383" y="6362960"/>
            <a:ext cx="3094385" cy="762000"/>
          </a:xfrm>
          <a:prstGeom prst="roundRect">
            <a:avLst>
              <a:gd name="adj" fmla="val 15000"/>
            </a:avLst>
          </a:prstGeom>
          <a:ln w="7937">
            <a:solidFill>
              <a:srgbClr val="F05552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51070" y="6561398"/>
            <a:ext cx="2599841" cy="403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0565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不及预期 → 论点降级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36DE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· 估值与交易结构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76350"/>
            <a:ext cx="15716250" cy="7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250" b="1" spc="-105" kern="0" dirty="0">
                <a:solidFill>
                  <a:srgbClr val="F2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股价已进入目标区，但先观察</a:t>
            </a:r>
            <a:endParaRPr lang="en-US" sz="5250" dirty="0"/>
          </a:p>
        </p:txBody>
      </p:sp>
      <p:sp>
        <p:nvSpPr>
          <p:cNvPr id="4" name="Shape 2"/>
          <p:cNvSpPr/>
          <p:nvPr/>
        </p:nvSpPr>
        <p:spPr>
          <a:xfrm>
            <a:off x="952500" y="2514513"/>
            <a:ext cx="8421873" cy="7010487"/>
          </a:xfrm>
          <a:prstGeom prst="roundRect">
            <a:avLst>
              <a:gd name="adj" fmla="val 2446"/>
            </a:avLst>
          </a:prstGeom>
          <a:solidFill>
            <a:srgbClr val="14161C"/>
          </a:solidFill>
          <a:ln w="7937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36687" y="4658072"/>
            <a:ext cx="2514600" cy="43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概率加权期望价值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7792888" y="4340572"/>
            <a:ext cx="1173497" cy="843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36DE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$84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436687" y="5787554"/>
            <a:ext cx="1219200" cy="43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当前股价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695591" y="5470053"/>
            <a:ext cx="2414054" cy="843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$68.03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1436687" y="6599535"/>
            <a:ext cx="7453499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436687" y="7210723"/>
            <a:ext cx="647700" cy="43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折价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7427143" y="6893222"/>
            <a:ext cx="1609347" cy="843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59D3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−19%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9679161" y="2514513"/>
            <a:ext cx="7656338" cy="3352849"/>
          </a:xfrm>
          <a:prstGeom prst="roundRect">
            <a:avLst>
              <a:gd name="adj" fmla="val 5114"/>
            </a:avLst>
          </a:prstGeom>
          <a:solidFill>
            <a:srgbClr val="14161C"/>
          </a:solidFill>
          <a:ln w="7937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25211" y="3289660"/>
            <a:ext cx="7440662" cy="403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目标入场区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125211" y="3788110"/>
            <a:ext cx="7440662" cy="843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$65 – $80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0125211" y="4727091"/>
            <a:ext cx="7440662" cy="403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9D3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已到达 · 但瀑布未衰竭，尚无有效入场点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679161" y="6172150"/>
            <a:ext cx="7656338" cy="3352849"/>
          </a:xfrm>
          <a:prstGeom prst="roundRect">
            <a:avLst>
              <a:gd name="adj" fmla="val 5114"/>
            </a:avLst>
          </a:prstGeom>
          <a:solidFill>
            <a:srgbClr val="14161C"/>
          </a:solidFill>
          <a:ln w="7937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25211" y="7075847"/>
            <a:ext cx="7440662" cy="403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B92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仓位定性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125211" y="7574297"/>
            <a:ext cx="7440662" cy="605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2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高确信度投机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0125211" y="8256116"/>
            <a:ext cx="7440662" cy="403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7CC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深度投机 / 动量交易 · 仓位大小需相应控制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453928"/>
            <a:ext cx="17811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36DE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· 结论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047750" y="3144490"/>
            <a:ext cx="2539938" cy="657944"/>
          </a:xfrm>
          <a:prstGeom prst="roundRect">
            <a:avLst>
              <a:gd name="adj" fmla="val 50000"/>
            </a:avLst>
          </a:prstGeom>
          <a:ln w="7937">
            <a:solidFill>
              <a:srgbClr val="EF5654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9513" y="3416287"/>
            <a:ext cx="114288" cy="114288"/>
          </a:xfrm>
          <a:prstGeom prst="ellipse">
            <a:avLst/>
          </a:prstGeom>
          <a:solidFill>
            <a:srgbClr val="F05653"/>
          </a:solidFill>
          <a:ln/>
        </p:spPr>
      </p:sp>
      <p:sp>
        <p:nvSpPr>
          <p:cNvPr id="5" name="Text 3"/>
          <p:cNvSpPr/>
          <p:nvPr/>
        </p:nvSpPr>
        <p:spPr>
          <a:xfrm>
            <a:off x="1646163" y="3312728"/>
            <a:ext cx="1685962" cy="367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95" kern="0" dirty="0">
                <a:solidFill>
                  <a:srgbClr val="FF6A6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评级 · 观察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4221510"/>
            <a:ext cx="15893415" cy="1725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150" b="1" spc="-123" kern="0" dirty="0">
                <a:solidFill>
                  <a:srgbClr val="F2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基本面完好且改善，估值有折价——但技术面破位，等待确认。</a:t>
            </a:r>
            <a:endParaRPr lang="en-US" sz="6150" dirty="0"/>
          </a:p>
        </p:txBody>
      </p:sp>
      <p:sp>
        <p:nvSpPr>
          <p:cNvPr id="7" name="Shape 5"/>
          <p:cNvSpPr/>
          <p:nvPr/>
        </p:nvSpPr>
        <p:spPr>
          <a:xfrm>
            <a:off x="1047750" y="6289477"/>
            <a:ext cx="7829537" cy="15875"/>
          </a:xfrm>
          <a:prstGeom prst="rect">
            <a:avLst/>
          </a:prstGeom>
          <a:solidFill>
            <a:srgbClr val="36DEDE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6553002"/>
            <a:ext cx="8064423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2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触发点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C7CC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7/30 财报确认营收拉升，或出现量能衰竭信号。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410650" y="6289477"/>
            <a:ext cx="7829599" cy="15875"/>
          </a:xfrm>
          <a:prstGeom prst="rect">
            <a:avLst/>
          </a:prstGeom>
          <a:solidFill>
            <a:srgbClr val="3A4150"/>
          </a:solidFill>
          <a:ln/>
        </p:spPr>
      </p:sp>
      <p:sp>
        <p:nvSpPr>
          <p:cNvPr id="10" name="Text 8"/>
          <p:cNvSpPr/>
          <p:nvPr/>
        </p:nvSpPr>
        <p:spPr>
          <a:xfrm>
            <a:off x="9410650" y="6553002"/>
            <a:ext cx="8064487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2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在此之前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C7CC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不动手——追踪营收拉升是否兑现，对比股价是否已过度透支基本面。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2026-07-01T17:30:05Z</dcterms:created>
  <dcterms:modified xsi:type="dcterms:W3CDTF">2026-07-01T17:30:05Z</dcterms:modified>
</cp:coreProperties>
</file>